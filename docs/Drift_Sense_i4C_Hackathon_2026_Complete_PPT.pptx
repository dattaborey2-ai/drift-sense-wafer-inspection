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61462-A041-4F4E-B13B-2309CE836BF3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931DD-7C2D-4BBC-B7F2-3E77A912A2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907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931DD-7C2D-4BBC-B7F2-3E77A912A26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4195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7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801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945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089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233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21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65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809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953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5097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241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338560" y="365760"/>
            <a:ext cx="7315" cy="6126480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365760"/>
            <a:ext cx="11338560" cy="7315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1188720"/>
            <a:ext cx="11338560" cy="7315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011680"/>
            <a:ext cx="11338560" cy="7315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834640"/>
            <a:ext cx="11338560" cy="7315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11338560" cy="7315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4480560"/>
            <a:ext cx="11338560" cy="7315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5760" y="5303520"/>
            <a:ext cx="11338560" cy="7315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6126480"/>
            <a:ext cx="11338560" cy="7315"/>
          </a:xfrm>
          <a:prstGeom prst="rect">
            <a:avLst/>
          </a:prstGeom>
          <a:solidFill>
            <a:srgbClr val="131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1066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3FBEB4"/>
                </a:solidFill>
                <a:latin typeface="Aptos"/>
              </a:rPr>
              <a:t>SEMICON INDIA HACKATHON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7452"/>
            <a:ext cx="1051560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dirty="0">
                <a:solidFill>
                  <a:srgbClr val="EBF2FA"/>
                </a:solidFill>
                <a:latin typeface="Aptos"/>
              </a:rPr>
              <a:t>DRIFT-SENSE</a:t>
            </a:r>
            <a:endParaRPr sz="4000" b="1" dirty="0">
              <a:solidFill>
                <a:srgbClr val="EBF2F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832780"/>
            <a:ext cx="98755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5B8EFF"/>
                </a:solidFill>
                <a:latin typeface="Aptos"/>
              </a:rPr>
              <a:t>Resilient Localization. Uncompromised Precision.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5995" y="1176858"/>
            <a:ext cx="9875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dirty="0">
                <a:solidFill>
                  <a:srgbClr val="EBF2FA"/>
                </a:solidFill>
                <a:latin typeface="Aptos"/>
              </a:rPr>
              <a:t>AI-powered navigation-error recovery for periodic semiconductor wafer inspection.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1649304"/>
            <a:ext cx="192024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1667592"/>
            <a:ext cx="19202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3FBEB4"/>
                </a:solidFill>
                <a:latin typeface="Aptos"/>
              </a:rPr>
              <a:t>APPLIED MATERIALS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6352" y="1649298"/>
            <a:ext cx="160020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2816352" y="1667586"/>
            <a:ext cx="16002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3FBEB4"/>
                </a:solidFill>
                <a:latin typeface="Aptos"/>
              </a:rPr>
              <a:t>FINFET-STYLE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53712" y="1657764"/>
            <a:ext cx="196596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53712" y="1676052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 dirty="0">
                <a:solidFill>
                  <a:srgbClr val="3FBEB4"/>
                </a:solidFill>
                <a:latin typeface="Aptos"/>
              </a:rPr>
              <a:t>DEEP LEARNING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533" y="2256826"/>
            <a:ext cx="11379119" cy="4308566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919072" y="2333072"/>
            <a:ext cx="42428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u="sng" dirty="0">
                <a:solidFill>
                  <a:srgbClr val="3FBEB4"/>
                </a:solidFill>
                <a:latin typeface="Aptos"/>
              </a:rPr>
              <a:t>TEAM DETAILS:</a:t>
            </a:r>
            <a:endParaRPr b="1" u="sng" dirty="0">
              <a:solidFill>
                <a:srgbClr val="3FBEB4"/>
              </a:solidFill>
              <a:latin typeface="Aptos"/>
            </a:endParaRPr>
          </a:p>
        </p:txBody>
      </p:sp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A76C846-04FA-8C14-C889-7633C66F2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154060"/>
              </p:ext>
            </p:extLst>
          </p:nvPr>
        </p:nvGraphicFramePr>
        <p:xfrm>
          <a:off x="738281" y="3598863"/>
          <a:ext cx="11204867" cy="249327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647541">
                  <a:extLst>
                    <a:ext uri="{9D8B030D-6E8A-4147-A177-3AD203B41FA5}">
                      <a16:colId xmlns:a16="http://schemas.microsoft.com/office/drawing/2014/main" val="2722180948"/>
                    </a:ext>
                  </a:extLst>
                </a:gridCol>
                <a:gridCol w="2583572">
                  <a:extLst>
                    <a:ext uri="{9D8B030D-6E8A-4147-A177-3AD203B41FA5}">
                      <a16:colId xmlns:a16="http://schemas.microsoft.com/office/drawing/2014/main" val="1285338790"/>
                    </a:ext>
                  </a:extLst>
                </a:gridCol>
                <a:gridCol w="3021341">
                  <a:extLst>
                    <a:ext uri="{9D8B030D-6E8A-4147-A177-3AD203B41FA5}">
                      <a16:colId xmlns:a16="http://schemas.microsoft.com/office/drawing/2014/main" val="752899591"/>
                    </a:ext>
                  </a:extLst>
                </a:gridCol>
                <a:gridCol w="1347020">
                  <a:extLst>
                    <a:ext uri="{9D8B030D-6E8A-4147-A177-3AD203B41FA5}">
                      <a16:colId xmlns:a16="http://schemas.microsoft.com/office/drawing/2014/main" val="1726942307"/>
                    </a:ext>
                  </a:extLst>
                </a:gridCol>
                <a:gridCol w="3605393">
                  <a:extLst>
                    <a:ext uri="{9D8B030D-6E8A-4147-A177-3AD203B41FA5}">
                      <a16:colId xmlns:a16="http://schemas.microsoft.com/office/drawing/2014/main" val="3475963221"/>
                    </a:ext>
                  </a:extLst>
                </a:gridCol>
              </a:tblGrid>
              <a:tr h="365132">
                <a:tc rowSpan="2"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S/N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ROLE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CONTACT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049035"/>
                  </a:ext>
                </a:extLst>
              </a:tr>
              <a:tr h="3651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MOBILE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E-MAIL</a:t>
                      </a:r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032831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MANAS BAJPAI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7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TEAM CAPTAIN</a:t>
                      </a:r>
                      <a:r>
                        <a:rPr lang="en-US" sz="1700" b="1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,</a:t>
                      </a:r>
                      <a:r>
                        <a:rPr lang="en-US" sz="1700" b="1" dirty="0"/>
                        <a:t> </a:t>
                      </a:r>
                      <a:r>
                        <a:rPr lang="en-US" sz="1700" b="0" dirty="0">
                          <a:solidFill>
                            <a:schemeClr val="bg1"/>
                          </a:solidFill>
                        </a:rPr>
                        <a:t>AI/ML Engineer</a:t>
                      </a:r>
                      <a:endParaRPr lang="en-US" sz="17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7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vlsimcte@gmail.com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060917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SUKHVEER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dirty="0">
                          <a:solidFill>
                            <a:schemeClr val="bg1"/>
                          </a:solidFill>
                        </a:rPr>
                        <a:t>DATASET ENGINEER</a:t>
                      </a:r>
                      <a:endParaRPr lang="en-US" sz="1700" b="1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8755700791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rahulkumarnauhwar179@gmail.com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781361"/>
                  </a:ext>
                </a:extLst>
              </a:tr>
              <a:tr h="374676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BOREY DUTTA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b="0" dirty="0">
                          <a:solidFill>
                            <a:schemeClr val="bg1"/>
                          </a:solidFill>
                        </a:rPr>
                        <a:t>TESTING &amp; DEPLOYMENT</a:t>
                      </a:r>
                      <a:endParaRPr lang="en-US" sz="17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8699615162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dattaborey2@gmail.com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4240596"/>
                  </a:ext>
                </a:extLst>
              </a:tr>
              <a:tr h="638980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SUDHEER CHOUDHARY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700" b="0" dirty="0">
                          <a:solidFill>
                            <a:schemeClr val="bg1"/>
                          </a:solidFill>
                        </a:rPr>
                        <a:t>DATASET DEVELOPMENT</a:t>
                      </a:r>
                      <a:endParaRPr lang="en-US" sz="17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8319795223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</a:rPr>
                        <a:t>Jat.sudhir6677@gmail.com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048582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B50242BD-071C-349C-1BA9-B14B33664DB2}"/>
              </a:ext>
            </a:extLst>
          </p:cNvPr>
          <p:cNvSpPr txBox="1"/>
          <p:nvPr/>
        </p:nvSpPr>
        <p:spPr>
          <a:xfrm>
            <a:off x="1181544" y="2620939"/>
            <a:ext cx="42428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000" b="1" u="sng" dirty="0">
                <a:solidFill>
                  <a:srgbClr val="3FBEB4"/>
                </a:solidFill>
                <a:latin typeface="Aptos"/>
              </a:rPr>
              <a:t>TEAM NAME</a:t>
            </a:r>
            <a:r>
              <a:rPr lang="en-US" sz="2000" b="1" dirty="0">
                <a:solidFill>
                  <a:srgbClr val="3FBEB4"/>
                </a:solidFill>
                <a:latin typeface="Aptos"/>
              </a:rPr>
              <a:t>: MCTE Team 2</a:t>
            </a:r>
            <a:endParaRPr sz="2000" b="1" dirty="0">
              <a:solidFill>
                <a:srgbClr val="3FBEB4"/>
              </a:solidFill>
              <a:latin typeface="Apto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A34C27-9253-8DB2-E32E-C3429B821F75}"/>
              </a:ext>
            </a:extLst>
          </p:cNvPr>
          <p:cNvSpPr txBox="1"/>
          <p:nvPr/>
        </p:nvSpPr>
        <p:spPr>
          <a:xfrm>
            <a:off x="757123" y="2948830"/>
            <a:ext cx="11069117" cy="6771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900" b="1" u="sng" dirty="0">
                <a:solidFill>
                  <a:schemeClr val="bg1"/>
                </a:solidFill>
                <a:latin typeface="Aptos"/>
              </a:rPr>
              <a:t>COLLEGE NAME:</a:t>
            </a:r>
            <a:r>
              <a:rPr lang="en-US" sz="1900" b="1" dirty="0">
                <a:solidFill>
                  <a:schemeClr val="bg1"/>
                </a:solidFill>
                <a:latin typeface="Aptos"/>
              </a:rPr>
              <a:t> MILITARY COLLEGE OF TELECOMMUNICATION ENGINEERING</a:t>
            </a:r>
          </a:p>
          <a:p>
            <a:r>
              <a:rPr lang="en-US" sz="1900" b="1" dirty="0">
                <a:solidFill>
                  <a:schemeClr val="bg1"/>
                </a:solidFill>
                <a:latin typeface="Aptos"/>
              </a:rPr>
              <a:t>MHOW, INDORE(M.P).</a:t>
            </a:r>
            <a:endParaRPr sz="1900" b="1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BEB4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11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F2FA"/>
                </a:solidFill>
                <a:latin typeface="Aptos"/>
              </a:rPr>
              <a:t>Problem Statement Addressed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69494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B1C4"/>
                </a:solidFill>
                <a:latin typeface="Aptos"/>
              </a:rPr>
              <a:t>Drift-Sense: Navigation-Error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F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49240" cy="452628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575816"/>
            <a:ext cx="5020055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3FBEB4"/>
                </a:solidFill>
                <a:latin typeface="Aptos"/>
              </a:rPr>
              <a:t>THE INDUSTRY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930400"/>
            <a:ext cx="5020055" cy="3904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dirty="0">
                <a:solidFill>
                  <a:srgbClr val="EBF2FA"/>
                </a:solidFill>
                <a:latin typeface="Aptos"/>
              </a:rPr>
              <a:t>A wafer inspection tool must revisit the same site repeatedly with extremely high positional consistency.
Small stage errors can accumulate through thermal expansion, vibration and mechanical slack. A revisit may land several pixels away from the intended site.
The difficulty is not only drift: semiconductor layouts repeat. A wrong location can look almost identical to the correct 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44600"/>
            <a:ext cx="5394960" cy="19659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494536"/>
            <a:ext cx="5065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6BE46"/>
                </a:solidFill>
                <a:latin typeface="Aptos"/>
              </a:rPr>
              <a:t>WHY TEMPLATE MATCHING BREAKS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2042160"/>
            <a:ext cx="5065776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Highly repetitive DRAM cell arrays create multiple visually similar locations. A conventional template matcher may therefore lock onto the wrong periodic copy instead of the intended site.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72200" y="3429000"/>
            <a:ext cx="5394960" cy="233172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36792" y="3557016"/>
            <a:ext cx="5065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8EFF"/>
                </a:solidFill>
                <a:latin typeface="Aptos"/>
              </a:rPr>
              <a:t>OUR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3931920"/>
            <a:ext cx="5065776" cy="17099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BF2FA"/>
                </a:solidFill>
                <a:latin typeface="Aptos"/>
              </a:rPr>
              <a:t>Given a reference image and a larger search image:
1. Find the intended pattern location
2. Suppress periodic false matches
3. Remain robust to independent sensor noise, blur, rotation and scale variation
4. Output one center coordinate: (x, y)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BEB4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11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F2FA"/>
                </a:solidFill>
                <a:latin typeface="Aptos"/>
              </a:rPr>
              <a:t>Idea Description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694944"/>
            <a:ext cx="105156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DRAM-style synthetic layouts + AI-based localization</a:t>
            </a:r>
            <a:endParaRPr sz="115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F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383280" cy="44805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3FBEB4"/>
                </a:solidFill>
                <a:latin typeface="Aptos"/>
              </a:rPr>
              <a:t>1 •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3054096" cy="37548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DRAM-STYLE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
</a:t>
            </a:r>
            <a:r>
              <a:rPr lang="en-US" sz="1400" dirty="0">
                <a:solidFill>
                  <a:schemeClr val="bg1"/>
                </a:solidFill>
              </a:rPr>
              <a:t>Synthetic patterns model </a:t>
            </a:r>
            <a:r>
              <a:rPr lang="en-US" sz="1400" b="1" dirty="0">
                <a:solidFill>
                  <a:schemeClr val="bg1"/>
                </a:solidFill>
              </a:rPr>
              <a:t>repetitive DRAM memory-cell arrays</a:t>
            </a:r>
            <a:r>
              <a:rPr lang="en-US" sz="1400" dirty="0">
                <a:solidFill>
                  <a:schemeClr val="bg1"/>
                </a:solidFill>
              </a:rPr>
              <a:t>, including: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Word-line-like structures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Bit-line-like structures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Repeated memory-cell patterns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Contact/storage-node features</a:t>
            </a:r>
          </a:p>
          <a:p>
            <a:pPr lvl="0"/>
            <a:endParaRPr lang="en-US" sz="1400" dirty="0">
              <a:solidFill>
                <a:schemeClr val="bg1"/>
              </a:solidFill>
            </a:endParaRPr>
          </a:p>
          <a:p>
            <a:pPr lvl="0"/>
            <a:r>
              <a:rPr lang="en-US" sz="1400" b="0" dirty="0">
                <a:solidFill>
                  <a:srgbClr val="EBF2FA"/>
                </a:solidFill>
                <a:latin typeface="Aptos"/>
              </a:rPr>
              <a:t>W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hy </a:t>
            </a:r>
            <a:r>
              <a:rPr lang="en-US" sz="1400" dirty="0">
                <a:solidFill>
                  <a:srgbClr val="EBF2FA"/>
                </a:solidFill>
                <a:latin typeface="Aptos"/>
              </a:rPr>
              <a:t>DRAM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?</a:t>
            </a:r>
            <a:endParaRPr lang="en-US" sz="1400" b="0" dirty="0">
              <a:solidFill>
                <a:srgbClr val="EBF2FA"/>
              </a:solidFill>
              <a:latin typeface="Apto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Strong periodic structure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High visual similarity between neighboring cells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Naturally exposes periodic localization ambiguity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Suitable for testing robust navigation-error recovery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234440"/>
            <a:ext cx="3383280" cy="44805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25112" y="1362456"/>
            <a:ext cx="30540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8EFF"/>
                </a:solidFill>
                <a:latin typeface="Aptos"/>
              </a:rPr>
              <a:t>2 • LOCALIZATION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5112" y="1737360"/>
            <a:ext cx="3054096" cy="29546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AI-BASED LOCALIZATION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
A shared feature encoder extracts structural representations from both images.
Multi-scale correlation identifies candidate positions while preserving spatial context.
</a:t>
            </a:r>
            <a:r>
              <a:rPr lang="en-US" sz="1400" dirty="0">
                <a:solidFill>
                  <a:schemeClr val="bg1"/>
                </a:solidFill>
              </a:rPr>
              <a:t>A </a:t>
            </a:r>
            <a:r>
              <a:rPr lang="en-US" sz="1400" b="1" dirty="0">
                <a:solidFill>
                  <a:schemeClr val="bg1"/>
                </a:solidFill>
              </a:rPr>
              <a:t>coordinate-refinement stage</a:t>
            </a:r>
            <a:r>
              <a:rPr lang="en-US" sz="1400" dirty="0">
                <a:solidFill>
                  <a:schemeClr val="bg1"/>
                </a:solidFill>
              </a:rPr>
              <a:t> estimates the final </a:t>
            </a:r>
            <a:r>
              <a:rPr lang="en-US" dirty="0">
                <a:solidFill>
                  <a:schemeClr val="bg1"/>
                </a:solidFill>
              </a:rPr>
              <a:t>(x, y)</a:t>
            </a:r>
            <a:r>
              <a:rPr lang="en-US" sz="1400" dirty="0">
                <a:solidFill>
                  <a:schemeClr val="bg1"/>
                </a:solidFill>
              </a:rPr>
              <a:t> center with sub-pixel precision.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26679" y="1234440"/>
            <a:ext cx="3840480" cy="44805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91271" y="1430189"/>
            <a:ext cx="35112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dirty="0">
                <a:solidFill>
                  <a:srgbClr val="F6BE46"/>
                </a:solidFill>
                <a:latin typeface="Aptos"/>
              </a:rPr>
              <a:t>3 • WHY NOT TEMPLATE MATCHING?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1" y="1737360"/>
            <a:ext cx="3511296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dirty="0">
                <a:solidFill>
                  <a:srgbClr val="EBF2FA"/>
                </a:solidFill>
                <a:latin typeface="Aptos"/>
              </a:rPr>
              <a:t>Raw template matching is dominated by repeated local appearance.
Drift-Sense instead combines:
• Learned structural features
• Multi-scale agreement
• Candidate consistency
• Coordinate refinement
Goal: </a:t>
            </a:r>
            <a:r>
              <a:rPr lang="en-US" sz="1400" b="0" dirty="0">
                <a:solidFill>
                  <a:srgbClr val="EBF2FA"/>
                </a:solidFill>
                <a:latin typeface="Aptos"/>
              </a:rPr>
              <a:t>I</a:t>
            </a:r>
            <a:r>
              <a:rPr lang="en-US" sz="1400" dirty="0">
                <a:solidFill>
                  <a:schemeClr val="bg1"/>
                </a:solidFill>
              </a:rPr>
              <a:t>dentify the intended DRAM cell location—not simply the most visually similar location.</a:t>
            </a:r>
            <a:endParaRPr sz="1400" b="0" dirty="0">
              <a:solidFill>
                <a:schemeClr val="bg1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BEB4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11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F2FA"/>
                </a:solidFill>
                <a:latin typeface="Aptos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69494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B1C4"/>
                </a:solidFill>
                <a:latin typeface="Aptos"/>
              </a:rPr>
              <a:t>Controlled synthetic data + periodicity-aware multi-scale localization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F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490472" cy="960120"/>
          </a:xfrm>
          <a:prstGeom prst="roundRect">
            <a:avLst/>
          </a:prstGeom>
          <a:solidFill>
            <a:srgbClr val="121D2D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6072" y="1353312"/>
            <a:ext cx="1344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FBEB4"/>
                </a:solidFill>
                <a:latin typeface="Aptos"/>
              </a:rPr>
              <a:t>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627632"/>
            <a:ext cx="1344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BF2FA"/>
                </a:solidFill>
                <a:latin typeface="Aptos"/>
              </a:rPr>
              <a:t>Reference
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7" y="1536192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1B1C4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30552" y="1234440"/>
            <a:ext cx="1490472" cy="960120"/>
          </a:xfrm>
          <a:prstGeom prst="roundRect">
            <a:avLst/>
          </a:prstGeom>
          <a:solidFill>
            <a:srgbClr val="121D2D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03704" y="1353312"/>
            <a:ext cx="1344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FBEB4"/>
                </a:solidFill>
                <a:latin typeface="Aptos"/>
              </a:rPr>
              <a:t>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1627632"/>
            <a:ext cx="1344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BF2FA"/>
                </a:solidFill>
                <a:latin typeface="Aptos"/>
              </a:rPr>
              <a:t>Search
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536192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1B1C4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58184" y="1234440"/>
            <a:ext cx="1490472" cy="960120"/>
          </a:xfrm>
          <a:prstGeom prst="roundRect">
            <a:avLst/>
          </a:prstGeom>
          <a:solidFill>
            <a:srgbClr val="121D2D"/>
          </a:solidFill>
          <a:ln>
            <a:solidFill>
              <a:srgbClr val="5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31336" y="1353312"/>
            <a:ext cx="1344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8EFF"/>
                </a:solidFill>
                <a:latin typeface="Aptos"/>
              </a:rPr>
              <a:t>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6" y="1627632"/>
            <a:ext cx="1344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BF2FA"/>
                </a:solidFill>
                <a:latin typeface="Aptos"/>
              </a:rPr>
              <a:t>Shared feature
encoder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1536192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1B1C4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85816" y="1234440"/>
            <a:ext cx="1490472" cy="960120"/>
          </a:xfrm>
          <a:prstGeom prst="roundRect">
            <a:avLst/>
          </a:prstGeom>
          <a:solidFill>
            <a:srgbClr val="121D2D"/>
          </a:solidFill>
          <a:ln>
            <a:solidFill>
              <a:srgbClr val="5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58968" y="1353312"/>
            <a:ext cx="1344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B8EFF"/>
                </a:solidFill>
                <a:latin typeface="Aptos"/>
              </a:rPr>
              <a:t>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1627632"/>
            <a:ext cx="1344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BF2FA"/>
                </a:solidFill>
                <a:latin typeface="Aptos"/>
              </a:rPr>
              <a:t>Multi-scale
correlation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1536192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1B1C4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13448" y="1234440"/>
            <a:ext cx="1490472" cy="960120"/>
          </a:xfrm>
          <a:prstGeom prst="roundRect">
            <a:avLst/>
          </a:prstGeom>
          <a:solidFill>
            <a:srgbClr val="121D2D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86600" y="1353312"/>
            <a:ext cx="1344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6BE46"/>
                </a:solidFill>
                <a:latin typeface="Aptos"/>
              </a:rPr>
              <a:t>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7266" y="1637792"/>
            <a:ext cx="1554480" cy="4462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dirty="0">
                <a:solidFill>
                  <a:srgbClr val="EBF2FA"/>
                </a:solidFill>
                <a:latin typeface="Aptos"/>
              </a:rPr>
              <a:t>Periodicity-aware
candidate scoring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6" y="1536192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1B1C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1234440"/>
            <a:ext cx="1490472" cy="960120"/>
          </a:xfrm>
          <a:prstGeom prst="roundRect">
            <a:avLst/>
          </a:prstGeom>
          <a:solidFill>
            <a:srgbClr val="121D2D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14232" y="1353312"/>
            <a:ext cx="1344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FBEB4"/>
                </a:solidFill>
                <a:latin typeface="Aptos"/>
              </a:rPr>
              <a:t>REFINE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14232" y="1627632"/>
            <a:ext cx="1344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BF2FA"/>
                </a:solidFill>
                <a:latin typeface="Aptos"/>
              </a:rPr>
              <a:t>Coordinate
refinement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8128" y="1536192"/>
            <a:ext cx="10972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1B1C4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68712" y="1234440"/>
            <a:ext cx="1490472" cy="960120"/>
          </a:xfrm>
          <a:prstGeom prst="roundRect">
            <a:avLst/>
          </a:prstGeom>
          <a:solidFill>
            <a:srgbClr val="121D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341864" y="1353312"/>
            <a:ext cx="134416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41864" y="1627632"/>
            <a:ext cx="1344168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EBF2FA"/>
                </a:solidFill>
                <a:latin typeface="Aptos"/>
              </a:rPr>
              <a:t>(x, y)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2514600"/>
            <a:ext cx="3566160" cy="33375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8952" y="2642616"/>
            <a:ext cx="3236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EB4"/>
                </a:solidFill>
                <a:latin typeface="Aptos"/>
              </a:rPr>
              <a:t>DATASET GENERATOR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3017520"/>
            <a:ext cx="3236976" cy="263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 dirty="0">
                <a:solidFill>
                  <a:srgbClr val="EBF2FA"/>
                </a:solidFill>
                <a:latin typeface="Aptos"/>
              </a:rPr>
              <a:t>• </a:t>
            </a:r>
            <a:r>
              <a:rPr lang="en-US" sz="1400" dirty="0">
                <a:solidFill>
                  <a:schemeClr val="bg1"/>
                </a:solidFill>
              </a:rPr>
              <a:t>DRAM-style periodic cell structures</a:t>
            </a:r>
            <a:r>
              <a:rPr sz="1250" b="0" dirty="0">
                <a:solidFill>
                  <a:srgbClr val="EBF2FA"/>
                </a:solidFill>
                <a:latin typeface="Aptos"/>
              </a:rPr>
              <a:t>
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• </a:t>
            </a:r>
            <a:r>
              <a:rPr lang="en-US" sz="1400" dirty="0" err="1">
                <a:solidFill>
                  <a:schemeClr val="bg1"/>
                </a:solidFill>
              </a:rPr>
              <a:t>Wordline</a:t>
            </a:r>
            <a:r>
              <a:rPr lang="en-US" sz="1400" dirty="0">
                <a:solidFill>
                  <a:schemeClr val="bg1"/>
                </a:solidFill>
              </a:rPr>
              <a:t>/</a:t>
            </a:r>
            <a:r>
              <a:rPr lang="en-US" sz="1400" dirty="0" err="1">
                <a:solidFill>
                  <a:schemeClr val="bg1"/>
                </a:solidFill>
              </a:rPr>
              <a:t>bitline</a:t>
            </a:r>
            <a:r>
              <a:rPr lang="en-US" sz="1400" dirty="0">
                <a:solidFill>
                  <a:schemeClr val="bg1"/>
                </a:solidFill>
              </a:rPr>
              <a:t>-like repeating patterns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
• </a:t>
            </a:r>
            <a:r>
              <a:rPr lang="en-US" sz="1400" dirty="0">
                <a:solidFill>
                  <a:schemeClr val="bg1"/>
                </a:solidFill>
              </a:rPr>
              <a:t>Randomized cell placement and pitch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
• </a:t>
            </a:r>
            <a:r>
              <a:rPr lang="en-US" sz="1400" dirty="0">
                <a:solidFill>
                  <a:schemeClr val="bg1"/>
                </a:solidFill>
              </a:rPr>
              <a:t>Reference &amp; search image size variation 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
• </a:t>
            </a:r>
            <a:r>
              <a:rPr lang="en-US" sz="1400" dirty="0">
                <a:solidFill>
                  <a:schemeClr val="bg1"/>
                </a:solidFill>
              </a:rPr>
              <a:t>Independent sensor noise 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
• </a:t>
            </a:r>
            <a:r>
              <a:rPr lang="en-US" sz="1400" dirty="0">
                <a:solidFill>
                  <a:schemeClr val="bg1"/>
                </a:solidFill>
              </a:rPr>
              <a:t>SEM-inspired edge brightening/contrast </a:t>
            </a:r>
            <a:r>
              <a:rPr sz="1250" b="0" dirty="0">
                <a:solidFill>
                  <a:schemeClr val="bg1"/>
                </a:solidFill>
                <a:latin typeface="Aptos"/>
              </a:rPr>
              <a:t>
• </a:t>
            </a:r>
            <a:r>
              <a:rPr lang="en-US" sz="1400" dirty="0">
                <a:solidFill>
                  <a:schemeClr val="bg1"/>
                </a:solidFill>
              </a:rPr>
              <a:t>Blur, rotation &amp; scaling </a:t>
            </a:r>
          </a:p>
          <a:p>
            <a:r>
              <a:rPr sz="1250" b="0" dirty="0">
                <a:solidFill>
                  <a:schemeClr val="bg1"/>
                </a:solidFill>
                <a:latin typeface="Aptos"/>
              </a:rPr>
              <a:t>
</a:t>
            </a:r>
            <a:r>
              <a:rPr lang="en-US" sz="1400" dirty="0">
                <a:solidFill>
                  <a:schemeClr val="bg1"/>
                </a:solidFill>
              </a:rPr>
              <a:t> Controlled variation allows the model to learn </a:t>
            </a:r>
            <a:r>
              <a:rPr lang="en-US" sz="1400" b="1" dirty="0">
                <a:solidFill>
                  <a:schemeClr val="bg1"/>
                </a:solidFill>
              </a:rPr>
              <a:t>realistic localization uncertainty rather than memorize fixed patterns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endParaRPr sz="1250" b="0" dirty="0">
              <a:solidFill>
                <a:srgbClr val="EBF2FA"/>
              </a:solidFill>
              <a:latin typeface="Aptos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343400" y="2514600"/>
            <a:ext cx="3566160" cy="33375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07992" y="2642616"/>
            <a:ext cx="32369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8EFF"/>
                </a:solidFill>
                <a:latin typeface="Aptos"/>
              </a:rPr>
              <a:t>LOCALIZATION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07992" y="3017520"/>
            <a:ext cx="3236976" cy="20851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50" b="0" dirty="0">
                <a:solidFill>
                  <a:srgbClr val="EBF2FA"/>
                </a:solidFill>
                <a:latin typeface="Aptos"/>
              </a:rPr>
              <a:t>• Shared-weight feature encoder
• Multi-scale feature pyramid
• Reference-to-search correlation
• Candidate peak extraction
• Periodicity-aware suppression
• Final coordinate refinement
Design principle: </a:t>
            </a:r>
            <a:r>
              <a:rPr lang="en-US" sz="1400" dirty="0">
                <a:solidFill>
                  <a:schemeClr val="bg1"/>
                </a:solidFill>
              </a:rPr>
              <a:t>Use structural and contextual evidence across scales instead of relying only on raw pixel similarity.</a:t>
            </a:r>
            <a:endParaRPr sz="125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092440" y="2514600"/>
            <a:ext cx="3474720" cy="33375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257031" y="264261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E46"/>
                </a:solidFill>
                <a:latin typeface="Aptos"/>
              </a:rPr>
              <a:t>ROBUSTNESS DESIGN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1" y="3017520"/>
            <a:ext cx="3145536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BF2FA"/>
                </a:solidFill>
                <a:latin typeface="Aptos"/>
              </a:rPr>
              <a:t>Training emphasizes variation rather than memorization.
Test protocol:
• ≥30 fresh randomized pairs
• Higher search-image noise than training
• Both easy and highly periodic regions
• Report error distribution, tolerance accuracy and runtime
This mirrors the official Applied Materials test intent [1].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BEB4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11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F2FA"/>
                </a:solidFill>
                <a:latin typeface="Aptos"/>
              </a:rPr>
              <a:t>Innovation &amp;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69494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B1C4"/>
                </a:solidFill>
                <a:latin typeface="Aptos"/>
              </a:rPr>
              <a:t>Designed around the actual failure mode: periodic ambiguity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F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257800" cy="1874519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1" y="136245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EB4"/>
                </a:solidFill>
                <a:latin typeface="Aptos"/>
              </a:rPr>
              <a:t>01  Periodicity-Aware Scoring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737360"/>
            <a:ext cx="492861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BF2FA"/>
                </a:solidFill>
                <a:latin typeface="Aptos"/>
              </a:rPr>
              <a:t>Avoids the assumption that the highest local similarity is unique. Candidate locations are compared using structural and multi-scale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257800" cy="1874519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82512" y="136245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8EFF"/>
                </a:solidFill>
                <a:latin typeface="Aptos"/>
              </a:rPr>
              <a:t>02  Independent-Capture Simulation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37360"/>
            <a:ext cx="492861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BF2FA"/>
                </a:solidFill>
                <a:latin typeface="Aptos"/>
              </a:rPr>
              <a:t>Reference and search images receive independent sensor noise, reflecting separate physical acquisitions.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5257800" cy="1874519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1" y="360273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E46"/>
                </a:solidFill>
                <a:latin typeface="Aptos"/>
              </a:rPr>
              <a:t>03  SEM-Informed Image 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977640"/>
            <a:ext cx="492861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BF2FA"/>
                </a:solidFill>
                <a:latin typeface="Aptos"/>
              </a:rPr>
              <a:t>Edge-brightening is explicitly modeled because secondary-electron SEM images show characteristic bright edge contrast.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5257800" cy="1874519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3602736"/>
            <a:ext cx="49286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EB4"/>
                </a:solidFill>
                <a:latin typeface="Aptos"/>
              </a:rPr>
              <a:t>04  10× Scale-Aware Localization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3977640"/>
            <a:ext cx="4928616" cy="1252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EBF2FA"/>
                </a:solidFill>
                <a:latin typeface="Aptos"/>
              </a:rPr>
              <a:t>The system is designed for the required reference/search scale relationship using multi-scale features and coordinate refinement.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BEB4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11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F2FA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69494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B1C4"/>
                </a:solidFill>
                <a:latin typeface="Aptos"/>
              </a:rPr>
              <a:t>Use measured results from the exact GitHub version submitted to i4C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F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29000" cy="713232"/>
          </a:xfrm>
          <a:prstGeom prst="roundRect">
            <a:avLst/>
          </a:prstGeom>
          <a:solidFill>
            <a:srgbClr val="121D2D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3350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FBEB4"/>
                </a:solidFill>
                <a:latin typeface="Aptos"/>
              </a:rPr>
              <a:t>TEST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3392" y="1298448"/>
            <a:ext cx="1783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en-IN" sz="1600" b="1" dirty="0">
                <a:solidFill>
                  <a:srgbClr val="EBF2FA"/>
                </a:solidFill>
                <a:latin typeface="Aptos"/>
              </a:rPr>
              <a:t>[</a:t>
            </a:r>
            <a:r>
              <a:rPr sz="1600" b="1" dirty="0">
                <a:solidFill>
                  <a:srgbClr val="EBF2FA"/>
                </a:solidFill>
                <a:latin typeface="Aptos"/>
              </a:rPr>
              <a:t>30]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713232"/>
          </a:xfrm>
          <a:prstGeom prst="roundRect">
            <a:avLst/>
          </a:prstGeom>
          <a:solidFill>
            <a:srgbClr val="121D2D"/>
          </a:solidFill>
          <a:ln>
            <a:solidFill>
              <a:srgbClr val="5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44568" y="13350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8EFF"/>
                </a:solidFill>
                <a:latin typeface="Aptos"/>
              </a:rPr>
              <a:t>≤1 px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1298448"/>
            <a:ext cx="1783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EBF2FA"/>
                </a:solidFill>
                <a:latin typeface="Aptos"/>
              </a:rPr>
              <a:t>[</a:t>
            </a:r>
            <a:r>
              <a:rPr lang="en-IN" sz="1600" b="1" dirty="0">
                <a:solidFill>
                  <a:srgbClr val="EBF2FA"/>
                </a:solidFill>
                <a:latin typeface="Aptos"/>
              </a:rPr>
              <a:t>100</a:t>
            </a:r>
            <a:r>
              <a:rPr sz="1600" b="1" dirty="0">
                <a:solidFill>
                  <a:srgbClr val="EBF2FA"/>
                </a:solidFill>
                <a:latin typeface="Aptos"/>
              </a:rPr>
              <a:t>%]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34440"/>
            <a:ext cx="3429000" cy="713232"/>
          </a:xfrm>
          <a:prstGeom prst="roundRect">
            <a:avLst/>
          </a:prstGeom>
          <a:solidFill>
            <a:srgbClr val="121D2D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9328" y="13350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FBEB4"/>
                </a:solidFill>
                <a:latin typeface="Aptos"/>
              </a:rPr>
              <a:t>≤3 px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82912" y="1298448"/>
            <a:ext cx="1783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EBF2FA"/>
                </a:solidFill>
                <a:latin typeface="Aptos"/>
              </a:rPr>
              <a:t>[</a:t>
            </a:r>
            <a:r>
              <a:rPr lang="en-IN" sz="1600" b="1" dirty="0">
                <a:solidFill>
                  <a:srgbClr val="EBF2FA"/>
                </a:solidFill>
                <a:latin typeface="Aptos"/>
              </a:rPr>
              <a:t>100</a:t>
            </a:r>
            <a:r>
              <a:rPr sz="1600" b="1" dirty="0">
                <a:solidFill>
                  <a:srgbClr val="EBF2FA"/>
                </a:solidFill>
                <a:latin typeface="Aptos"/>
              </a:rPr>
              <a:t>%]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48840"/>
            <a:ext cx="3429000" cy="713232"/>
          </a:xfrm>
          <a:prstGeom prst="roundRect">
            <a:avLst/>
          </a:prstGeom>
          <a:solidFill>
            <a:srgbClr val="121D2D"/>
          </a:solidFill>
          <a:ln>
            <a:solidFill>
              <a:srgbClr val="F6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22494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6BE46"/>
                </a:solidFill>
                <a:latin typeface="Aptos"/>
              </a:rPr>
              <a:t>≤5 px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3392" y="2212848"/>
            <a:ext cx="1783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EBF2FA"/>
                </a:solidFill>
                <a:latin typeface="Aptos"/>
              </a:rPr>
              <a:t>[</a:t>
            </a:r>
            <a:r>
              <a:rPr lang="en-IN" sz="1600" b="1" dirty="0">
                <a:solidFill>
                  <a:srgbClr val="EBF2FA"/>
                </a:solidFill>
                <a:latin typeface="Aptos"/>
              </a:rPr>
              <a:t>100</a:t>
            </a:r>
            <a:r>
              <a:rPr sz="1600" b="1" dirty="0">
                <a:solidFill>
                  <a:srgbClr val="EBF2FA"/>
                </a:solidFill>
                <a:latin typeface="Aptos"/>
              </a:rPr>
              <a:t>%]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148840"/>
            <a:ext cx="3429000" cy="713232"/>
          </a:xfrm>
          <a:prstGeom prst="roundRect">
            <a:avLst/>
          </a:prstGeom>
          <a:solidFill>
            <a:srgbClr val="121D2D"/>
          </a:solidFill>
          <a:ln>
            <a:solidFill>
              <a:srgbClr val="5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4568" y="22494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B8EFF"/>
                </a:solidFill>
                <a:latin typeface="Aptos"/>
              </a:rPr>
              <a:t>MEAN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88152" y="2212848"/>
            <a:ext cx="1783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EBF2FA"/>
                </a:solidFill>
                <a:latin typeface="Aptos"/>
              </a:rPr>
              <a:t>[</a:t>
            </a:r>
            <a:r>
              <a:rPr lang="en-IN" sz="1600" b="1" dirty="0">
                <a:solidFill>
                  <a:srgbClr val="EBF2FA"/>
                </a:solidFill>
                <a:latin typeface="Aptos"/>
              </a:rPr>
              <a:t>0.0</a:t>
            </a:r>
            <a:r>
              <a:rPr sz="1600" b="1" dirty="0">
                <a:solidFill>
                  <a:srgbClr val="EBF2FA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EBF2FA"/>
                </a:solidFill>
                <a:latin typeface="Aptos"/>
              </a:rPr>
              <a:t>px</a:t>
            </a:r>
            <a:r>
              <a:rPr sz="1600" b="1" dirty="0">
                <a:solidFill>
                  <a:srgbClr val="EBF2FA"/>
                </a:solidFill>
                <a:latin typeface="Aptos"/>
              </a:rPr>
              <a:t>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148840"/>
            <a:ext cx="3429000" cy="713232"/>
          </a:xfrm>
          <a:prstGeom prst="roundRect">
            <a:avLst/>
          </a:prstGeom>
          <a:solidFill>
            <a:srgbClr val="121D2D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39328" y="2249424"/>
            <a:ext cx="1417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3FBEB4"/>
                </a:solidFill>
                <a:latin typeface="Aptos"/>
              </a:rPr>
              <a:t>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12" y="2212848"/>
            <a:ext cx="1783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dirty="0">
                <a:solidFill>
                  <a:srgbClr val="EBF2FA"/>
                </a:solidFill>
                <a:latin typeface="Aptos"/>
              </a:rPr>
              <a:t>[</a:t>
            </a:r>
            <a:r>
              <a:rPr lang="en-IN" sz="1600" b="1" dirty="0">
                <a:solidFill>
                  <a:srgbClr val="EBF2FA"/>
                </a:solidFill>
                <a:latin typeface="Aptos"/>
              </a:rPr>
              <a:t>397.25</a:t>
            </a:r>
            <a:r>
              <a:rPr sz="1600" b="1" dirty="0">
                <a:solidFill>
                  <a:srgbClr val="EBF2FA"/>
                </a:solidFill>
                <a:latin typeface="Aptos"/>
              </a:rPr>
              <a:t> </a:t>
            </a:r>
            <a:r>
              <a:rPr sz="1600" b="1" dirty="0" err="1">
                <a:solidFill>
                  <a:srgbClr val="EBF2FA"/>
                </a:solidFill>
                <a:latin typeface="Aptos"/>
              </a:rPr>
              <a:t>ms</a:t>
            </a:r>
            <a:r>
              <a:rPr sz="1600" b="1" dirty="0">
                <a:solidFill>
                  <a:srgbClr val="EBF2FA"/>
                </a:solidFill>
                <a:latin typeface="Aptos"/>
              </a:rPr>
              <a:t>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22419"/>
            <a:ext cx="5394960" cy="2626577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4250436"/>
            <a:ext cx="5065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EB4"/>
                </a:solidFill>
                <a:latin typeface="Aptos"/>
              </a:rPr>
              <a:t>SUCCESS CASE — INSERT ACTUAL VISUAL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625339"/>
            <a:ext cx="5065776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EBF2FA"/>
                </a:solidFill>
                <a:latin typeface="Aptos"/>
              </a:rPr>
              <a:t>Reference image  |  Search image
True center:      (</a:t>
            </a:r>
            <a:r>
              <a:rPr lang="en-IN" sz="1200" dirty="0">
                <a:solidFill>
                  <a:srgbClr val="EBF2FA"/>
                </a:solidFill>
                <a:latin typeface="Aptos"/>
              </a:rPr>
              <a:t>646,408</a:t>
            </a:r>
            <a:r>
              <a:rPr sz="1200" b="0" dirty="0">
                <a:solidFill>
                  <a:srgbClr val="EBF2FA"/>
                </a:solidFill>
                <a:latin typeface="Aptos"/>
              </a:rPr>
              <a:t>)
Predicted center: (</a:t>
            </a:r>
            <a:r>
              <a:rPr lang="en-IN" sz="1200" dirty="0">
                <a:solidFill>
                  <a:srgbClr val="EBF2FA"/>
                </a:solidFill>
                <a:latin typeface="Aptos"/>
              </a:rPr>
              <a:t>646,408</a:t>
            </a:r>
            <a:r>
              <a:rPr sz="1200" b="0" dirty="0">
                <a:solidFill>
                  <a:srgbClr val="EBF2FA"/>
                </a:solidFill>
                <a:latin typeface="Aptos"/>
              </a:rPr>
              <a:t>)
Pixel error:      [</a:t>
            </a:r>
            <a:r>
              <a:rPr lang="en-IN" sz="1200" b="0" dirty="0">
                <a:solidFill>
                  <a:srgbClr val="EBF2FA"/>
                </a:solidFill>
                <a:latin typeface="Aptos"/>
              </a:rPr>
              <a:t>0.00 </a:t>
            </a:r>
            <a:r>
              <a:rPr lang="en-IN" sz="1200" b="0" dirty="0" err="1">
                <a:solidFill>
                  <a:srgbClr val="EBF2FA"/>
                </a:solidFill>
                <a:latin typeface="Aptos"/>
              </a:rPr>
              <a:t>px</a:t>
            </a:r>
            <a:r>
              <a:rPr sz="1200" b="0" dirty="0">
                <a:solidFill>
                  <a:srgbClr val="EBF2FA"/>
                </a:solidFill>
                <a:latin typeface="Aptos"/>
              </a:rPr>
              <a:t>]</a:t>
            </a:r>
            <a:endParaRPr lang="en-IN" sz="1200" b="0" dirty="0">
              <a:solidFill>
                <a:srgbClr val="EBF2FA"/>
              </a:solidFill>
              <a:latin typeface="Aptos"/>
            </a:endParaRPr>
          </a:p>
          <a:p>
            <a:r>
              <a:rPr lang="en-IN" sz="1200" dirty="0">
                <a:solidFill>
                  <a:srgbClr val="EBF2FA"/>
                </a:solidFill>
                <a:latin typeface="Aptos"/>
              </a:rPr>
              <a:t>Matching score : (0.9202) </a:t>
            </a:r>
            <a:r>
              <a:rPr sz="1200" b="0" dirty="0">
                <a:solidFill>
                  <a:srgbClr val="EBF2FA"/>
                </a:solidFill>
                <a:latin typeface="Aptos"/>
              </a:rPr>
              <a:t>
</a:t>
            </a:r>
            <a:endParaRPr lang="en-IN" sz="1200" b="0" dirty="0">
              <a:solidFill>
                <a:schemeClr val="bg1"/>
              </a:solidFill>
              <a:latin typeface="Aptos"/>
            </a:endParaRPr>
          </a:p>
          <a:p>
            <a:r>
              <a:rPr lang="en-IN" sz="1200" dirty="0">
                <a:solidFill>
                  <a:schemeClr val="bg1"/>
                </a:solidFill>
              </a:rPr>
              <a:t>Successful localization under rotation and scale variation.</a:t>
            </a:r>
            <a:r>
              <a:rPr sz="1200" b="0" dirty="0">
                <a:solidFill>
                  <a:schemeClr val="bg1"/>
                </a:solidFill>
                <a:latin typeface="Aptos"/>
              </a:rPr>
              <a:t>
</a:t>
            </a:r>
            <a:r>
              <a:rPr lang="en-IN" sz="1200" dirty="0">
                <a:solidFill>
                  <a:schemeClr val="bg1"/>
                </a:solidFill>
              </a:rPr>
              <a:t>The proposed rotation-scale search followed by full-resolution verification correctly localized the DRAM target with zero pixel error.</a:t>
            </a:r>
            <a:endParaRPr sz="1200" b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172200" y="4122419"/>
            <a:ext cx="5394960" cy="2626577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4250436"/>
            <a:ext cx="5065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B6969"/>
                </a:solidFill>
                <a:latin typeface="Aptos"/>
              </a:rPr>
              <a:t>HONEST FAILURE — INSERT ACTUAL VISUAL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4625339"/>
            <a:ext cx="5065776" cy="21236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dirty="0">
                <a:solidFill>
                  <a:srgbClr val="EBF2FA"/>
                </a:solidFill>
                <a:latin typeface="Aptos"/>
              </a:rPr>
              <a:t>Reference image  |  Search image
True center:      (</a:t>
            </a:r>
            <a:r>
              <a:rPr lang="en-IN" sz="1200" dirty="0">
                <a:solidFill>
                  <a:srgbClr val="EBF2FA"/>
                </a:solidFill>
                <a:latin typeface="Aptos"/>
              </a:rPr>
              <a:t>154,813</a:t>
            </a:r>
            <a:r>
              <a:rPr sz="1200" b="0" dirty="0">
                <a:solidFill>
                  <a:srgbClr val="EBF2FA"/>
                </a:solidFill>
                <a:latin typeface="Aptos"/>
              </a:rPr>
              <a:t>)
Predicted center: (</a:t>
            </a:r>
            <a:r>
              <a:rPr lang="en-IN" sz="1200" dirty="0">
                <a:solidFill>
                  <a:srgbClr val="EBF2FA"/>
                </a:solidFill>
                <a:latin typeface="Aptos"/>
              </a:rPr>
              <a:t>173, 522</a:t>
            </a:r>
            <a:r>
              <a:rPr sz="1200" b="0" dirty="0">
                <a:solidFill>
                  <a:srgbClr val="EBF2FA"/>
                </a:solidFill>
                <a:latin typeface="Aptos"/>
              </a:rPr>
              <a:t>)
Pixel error:      [</a:t>
            </a:r>
            <a:r>
              <a:rPr lang="en-IN" sz="1200" b="0" dirty="0">
                <a:solidFill>
                  <a:srgbClr val="EBF2FA"/>
                </a:solidFill>
                <a:latin typeface="Aptos"/>
              </a:rPr>
              <a:t>291.62</a:t>
            </a:r>
            <a:r>
              <a:rPr lang="en-IN" sz="1200" dirty="0">
                <a:solidFill>
                  <a:srgbClr val="EBF2FA"/>
                </a:solidFill>
                <a:latin typeface="Aptos"/>
              </a:rPr>
              <a:t> </a:t>
            </a:r>
            <a:r>
              <a:rPr lang="en-IN" sz="1200" dirty="0" err="1">
                <a:solidFill>
                  <a:srgbClr val="EBF2FA"/>
                </a:solidFill>
                <a:latin typeface="Aptos"/>
              </a:rPr>
              <a:t>px</a:t>
            </a:r>
            <a:r>
              <a:rPr sz="1200" b="0" dirty="0">
                <a:solidFill>
                  <a:srgbClr val="EBF2FA"/>
                </a:solidFill>
                <a:latin typeface="Aptos"/>
              </a:rPr>
              <a:t>]
</a:t>
            </a:r>
            <a:r>
              <a:rPr sz="1200" b="0" dirty="0">
                <a:solidFill>
                  <a:schemeClr val="bg1"/>
                </a:solidFill>
                <a:latin typeface="Aptos"/>
              </a:rPr>
              <a:t>
</a:t>
            </a:r>
            <a:r>
              <a:rPr lang="en-IN" sz="1200" b="1" dirty="0">
                <a:solidFill>
                  <a:schemeClr val="bg1"/>
                </a:solidFill>
              </a:rPr>
              <a:t>Failure caused by periodic structural ambiguity.</a:t>
            </a:r>
            <a:br>
              <a:rPr lang="en-IN" sz="1200" dirty="0">
                <a:solidFill>
                  <a:schemeClr val="bg1"/>
                </a:solidFill>
              </a:rPr>
            </a:br>
            <a:r>
              <a:rPr lang="en-IN" sz="1200" dirty="0">
                <a:solidFill>
                  <a:schemeClr val="bg1"/>
                </a:solidFill>
              </a:rPr>
              <a:t>The search image contained visually similar repeating DRAM patterns. The matcher selected a structurally similar distractor instead of the true target location. This failure motivated the final rotation-scale locked local verification approach.</a:t>
            </a:r>
            <a:endParaRPr sz="1200" b="0" dirty="0">
              <a:solidFill>
                <a:schemeClr val="bg1"/>
              </a:solidFill>
              <a:latin typeface="Aptos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FA8B20B-A09E-4941-79F6-14BACCC50BAB}"/>
              </a:ext>
            </a:extLst>
          </p:cNvPr>
          <p:cNvGrpSpPr/>
          <p:nvPr/>
        </p:nvGrpSpPr>
        <p:grpSpPr>
          <a:xfrm>
            <a:off x="594360" y="3128361"/>
            <a:ext cx="6111240" cy="655731"/>
            <a:chOff x="594360" y="3128361"/>
            <a:chExt cx="5394960" cy="800386"/>
          </a:xfrm>
        </p:grpSpPr>
        <p:sp>
          <p:nvSpPr>
            <p:cNvPr id="31" name="Rounded Rectangle 23">
              <a:extLst>
                <a:ext uri="{FF2B5EF4-FFF2-40B4-BE49-F238E27FC236}">
                  <a16:creationId xmlns:a16="http://schemas.microsoft.com/office/drawing/2014/main" id="{5634BECD-E826-E00F-58E5-0DFC5EA4E755}"/>
                </a:ext>
              </a:extLst>
            </p:cNvPr>
            <p:cNvSpPr/>
            <p:nvPr/>
          </p:nvSpPr>
          <p:spPr>
            <a:xfrm>
              <a:off x="594360" y="3128361"/>
              <a:ext cx="5394960" cy="800386"/>
            </a:xfrm>
            <a:prstGeom prst="roundRect">
              <a:avLst/>
            </a:prstGeom>
            <a:solidFill>
              <a:srgbClr val="121D2D"/>
            </a:solidFill>
            <a:ln w="10160">
              <a:solidFill>
                <a:srgbClr val="273A5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F8745FE-3D08-9E6D-39F5-BD1761AC5A4A}"/>
                </a:ext>
              </a:extLst>
            </p:cNvPr>
            <p:cNvSpPr txBox="1"/>
            <p:nvPr/>
          </p:nvSpPr>
          <p:spPr>
            <a:xfrm>
              <a:off x="672846" y="3254234"/>
              <a:ext cx="5065776" cy="30777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IN" sz="1400" dirty="0">
                  <a:solidFill>
                    <a:srgbClr val="FFFF00"/>
                  </a:solidFill>
                </a:rPr>
                <a:t>Evaluation performed on the current 30-sample DRAM v2 evaluation set.</a:t>
              </a:r>
              <a:endParaRPr sz="1300" b="1" dirty="0">
                <a:solidFill>
                  <a:srgbClr val="FFFF00"/>
                </a:solidFill>
                <a:latin typeface="Apto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BEB4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11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F2FA"/>
                </a:solidFill>
                <a:latin typeface="Aptos"/>
              </a:rPr>
              <a:t>Technology &amp;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69494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B1C4"/>
                </a:solidFill>
                <a:latin typeface="Aptos"/>
              </a:rPr>
              <a:t>Reproducible Python implementation with deployment-focused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F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74720" cy="452628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EB4"/>
                </a:solidFill>
                <a:latin typeface="Aptos"/>
              </a:rPr>
              <a:t>SOFTWARE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3145536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dirty="0">
                <a:solidFill>
                  <a:srgbClr val="EBF2FA"/>
                </a:solidFill>
                <a:latin typeface="Aptos"/>
              </a:rPr>
              <a:t>Python 3.</a:t>
            </a:r>
            <a:r>
              <a:rPr lang="en-IN" sz="1400" b="0" dirty="0">
                <a:solidFill>
                  <a:srgbClr val="EBF2FA"/>
                </a:solidFill>
                <a:latin typeface="Aptos"/>
              </a:rPr>
              <a:t>14.2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
OpenCV</a:t>
            </a:r>
            <a:r>
              <a:rPr lang="en-IN" sz="1400" b="0" dirty="0">
                <a:solidFill>
                  <a:srgbClr val="EBF2FA"/>
                </a:solidFill>
                <a:latin typeface="Aptos"/>
              </a:rPr>
              <a:t> 5.0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
NumPy</a:t>
            </a:r>
            <a:r>
              <a:rPr lang="en-IN" sz="1400" b="0" dirty="0">
                <a:solidFill>
                  <a:srgbClr val="EBF2FA"/>
                </a:solidFill>
                <a:latin typeface="Aptos"/>
              </a:rPr>
              <a:t> 2.4.1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
SciPy</a:t>
            </a:r>
            <a:r>
              <a:rPr lang="en-IN" sz="1400" b="0" dirty="0">
                <a:solidFill>
                  <a:srgbClr val="EBF2FA"/>
                </a:solidFill>
                <a:latin typeface="Aptos"/>
              </a:rPr>
              <a:t> 1.17</a:t>
            </a:r>
          </a:p>
          <a:p>
            <a:pPr algn="l"/>
            <a:r>
              <a:rPr lang="en-IN" sz="1400" dirty="0">
                <a:solidFill>
                  <a:srgbClr val="EBF2FA"/>
                </a:solidFill>
                <a:latin typeface="Aptos"/>
              </a:rPr>
              <a:t>Pandas 3.0.1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
Matplotlib</a:t>
            </a:r>
            <a:r>
              <a:rPr lang="en-IN" sz="1400" b="0" dirty="0">
                <a:solidFill>
                  <a:srgbClr val="EBF2FA"/>
                </a:solidFill>
                <a:latin typeface="Aptos"/>
              </a:rPr>
              <a:t> 3.9+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
scikit-learn </a:t>
            </a:r>
            <a:r>
              <a:rPr lang="en-IN" sz="1400" dirty="0">
                <a:solidFill>
                  <a:srgbClr val="EBF2FA"/>
                </a:solidFill>
                <a:latin typeface="Aptos"/>
              </a:rPr>
              <a:t>1.8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
Model export: </a:t>
            </a:r>
            <a:r>
              <a:rPr sz="1400" b="0" dirty="0" err="1">
                <a:solidFill>
                  <a:srgbClr val="EBF2FA"/>
                </a:solidFill>
                <a:latin typeface="Aptos"/>
              </a:rPr>
              <a:t>PyTorch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 / ONNX (optional)
CLI inference: standalone Python 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474720" cy="452628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16552" y="1362456"/>
            <a:ext cx="314553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8EFF"/>
                </a:solidFill>
                <a:latin typeface="Aptos"/>
              </a:rPr>
              <a:t>DEVELOPMENT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737360"/>
            <a:ext cx="3145536" cy="246221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dirty="0">
                <a:solidFill>
                  <a:srgbClr val="EBF2FA"/>
                </a:solidFill>
                <a:latin typeface="Aptos"/>
              </a:rPr>
              <a:t>GPU: [Actual GPU]
CPU: [Actual CPU]
RAM: [Actual RAM]
CUDA: [</a:t>
            </a:r>
            <a:r>
              <a:rPr lang="en-IN" sz="1400" b="0" dirty="0">
                <a:solidFill>
                  <a:srgbClr val="EBF2FA"/>
                </a:solidFill>
                <a:latin typeface="Aptos"/>
              </a:rPr>
              <a:t>Version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]
Cloud: [None / Platform]
Dataset generation: [</a:t>
            </a:r>
            <a:r>
              <a:rPr lang="en-IN" sz="1400" dirty="0">
                <a:solidFill>
                  <a:srgbClr val="EBF2FA"/>
                </a:solidFill>
                <a:latin typeface="Aptos"/>
              </a:rPr>
              <a:t>~Few minutes / 30 samples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]
Training: [time]
Model size: [</a:t>
            </a:r>
            <a:r>
              <a:rPr lang="en-IN" sz="1400" dirty="0">
                <a:solidFill>
                  <a:srgbClr val="EBF2FA"/>
                </a:solidFill>
                <a:latin typeface="Aptos"/>
              </a:rPr>
              <a:t>N/A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]
Inference: [</a:t>
            </a:r>
            <a:r>
              <a:rPr lang="en-IN" sz="1400" b="0" dirty="0">
                <a:solidFill>
                  <a:srgbClr val="EBF2FA"/>
                </a:solidFill>
                <a:latin typeface="Aptos"/>
              </a:rPr>
              <a:t>397.25</a:t>
            </a:r>
            <a:r>
              <a:rPr lang="en-IN" sz="1400" dirty="0">
                <a:solidFill>
                  <a:srgbClr val="EBF2FA"/>
                </a:solidFill>
                <a:latin typeface="Aptos"/>
              </a:rPr>
              <a:t> </a:t>
            </a:r>
            <a:r>
              <a:rPr lang="en-IN" sz="1400" dirty="0" err="1">
                <a:solidFill>
                  <a:srgbClr val="EBF2FA"/>
                </a:solidFill>
                <a:latin typeface="Aptos"/>
              </a:rPr>
              <a:t>ms</a:t>
            </a:r>
            <a:r>
              <a:rPr lang="en-IN" sz="1400" dirty="0">
                <a:solidFill>
                  <a:srgbClr val="EBF2FA"/>
                </a:solidFill>
                <a:latin typeface="Aptos"/>
              </a:rPr>
              <a:t> / pair</a:t>
            </a:r>
            <a:r>
              <a:rPr sz="1400" b="0" dirty="0">
                <a:solidFill>
                  <a:srgbClr val="EBF2FA"/>
                </a:solidFill>
                <a:latin typeface="Aptos"/>
              </a:rPr>
              <a:t>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234440"/>
            <a:ext cx="3657600" cy="452628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74152" y="1362456"/>
            <a:ext cx="332841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6BE46"/>
                </a:solidFill>
                <a:latin typeface="Aptos"/>
              </a:rPr>
              <a:t>FEASIBILITY &amp; SCALABILITY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1737360"/>
            <a:ext cx="3328416" cy="3904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EBF2FA"/>
                </a:solidFill>
                <a:latin typeface="Aptos"/>
              </a:rPr>
              <a:t>• Generator parameters expose architecture, noise and placement diversity.
• Ground truth is generated automatically, enabling repeatable evaluation.
• Inference is packaged as a single command for evaluator use.
• The architecture can be extended from FinFET to DRAM-style layouts without changing the core coordinate-output interface.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BEB4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11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F2FA"/>
                </a:solidFill>
                <a:latin typeface="Aptos"/>
              </a:rPr>
              <a:t>GitHub &amp; Video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69494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B1C4"/>
                </a:solidFill>
                <a:latin typeface="Aptos"/>
              </a:rPr>
              <a:t>Mandatory reproducibility package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F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94960" cy="44805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362456"/>
            <a:ext cx="5065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FBEB4"/>
                </a:solidFill>
                <a:latin typeface="Aptos"/>
              </a:rPr>
              <a:t>PUBLIC GITHUB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5065776" cy="26930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 dirty="0">
                <a:solidFill>
                  <a:srgbClr val="EBF2FA"/>
                </a:solidFill>
                <a:latin typeface="Aptos"/>
              </a:rPr>
              <a:t>Repository:
</a:t>
            </a:r>
            <a:r>
              <a:rPr lang="en-IN" sz="1300" dirty="0">
                <a:solidFill>
                  <a:srgbClr val="EBF2FA"/>
                </a:solidFill>
                <a:latin typeface="Aptos"/>
              </a:rPr>
              <a:t>https://github.com/dattaborey2-ai/Drift-Sense-Wafer-Inspection</a:t>
            </a:r>
            <a:r>
              <a:rPr sz="1300" b="0" dirty="0">
                <a:solidFill>
                  <a:srgbClr val="EBF2FA"/>
                </a:solidFill>
                <a:latin typeface="Aptos"/>
              </a:rPr>
              <a:t>
Required contents:
• README.md
• generate_dataset.py
• inference.py  ← critical evaluator script
• train.py / notebook
• model weights (.pt/.</a:t>
            </a:r>
            <a:r>
              <a:rPr sz="1300" b="0" dirty="0" err="1">
                <a:solidFill>
                  <a:srgbClr val="EBF2FA"/>
                </a:solidFill>
                <a:latin typeface="Aptos"/>
              </a:rPr>
              <a:t>onnx</a:t>
            </a:r>
            <a:r>
              <a:rPr sz="1300" b="0" dirty="0">
                <a:solidFill>
                  <a:srgbClr val="EBF2FA"/>
                </a:solidFill>
                <a:latin typeface="Aptos"/>
              </a:rPr>
              <a:t>) if DL
• requirements.txt
• ground_truth.csv / evaluation code
• references / citation document
• example input pair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34440"/>
            <a:ext cx="5394960" cy="4480560"/>
          </a:xfrm>
          <a:prstGeom prst="roundRect">
            <a:avLst/>
          </a:prstGeom>
          <a:solidFill>
            <a:srgbClr val="121D2D"/>
          </a:solidFill>
          <a:ln w="10160">
            <a:solidFill>
              <a:srgbClr val="2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36792" y="1362456"/>
            <a:ext cx="506577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5B8EFF"/>
                </a:solidFill>
                <a:latin typeface="Aptos"/>
              </a:rPr>
              <a:t>EVALUATOR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1737360"/>
            <a:ext cx="5065776" cy="3858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EBF2FA"/>
                </a:solidFill>
                <a:latin typeface="Aptos"/>
              </a:rPr>
              <a:t>Dataset generation:
python generate_dataset.py --architecture finfet --num_pairs 100 --output_dir ./dataset
Inference:
python inference.py --reference reference.png --search search.png
Output:
(x, y)
No manual path edits, GUI steps or source-code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0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594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FBEB4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0116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BF2FA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694944"/>
            <a:ext cx="10515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1B1C4"/>
                </a:solidFill>
                <a:latin typeface="Aptos"/>
              </a:rPr>
              <a:t>Use the same numbering in the PPT, README and citation document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201400" cy="22860"/>
          </a:xfrm>
          <a:prstGeom prst="rect">
            <a:avLst/>
          </a:prstGeom>
          <a:solidFill>
            <a:srgbClr val="3F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FBEB4"/>
                </a:solidFill>
                <a:latin typeface="Aptos"/>
              </a:rPr>
              <a:t>[1]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16152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2FA"/>
                </a:solidFill>
                <a:latin typeface="Aptos"/>
              </a:rPr>
              <a:t>i4C / SEMICON India Hackathon 2026 — Drift-Sense problem statement and submission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78440" y="1225296"/>
            <a:ext cx="96012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78440" y="1243584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FBEB4"/>
                </a:solidFill>
                <a:latin typeface="Aptos"/>
              </a:rPr>
              <a:t>Official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FBEB4"/>
                </a:solidFill>
                <a:latin typeface="Aptos"/>
              </a:rPr>
              <a:t>[2]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10512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2FA"/>
                </a:solidFill>
                <a:latin typeface="Aptos"/>
              </a:rPr>
              <a:t>Villarrubia, J. S. et al. (2001), “Edge Determination for Polycrystalline Silicon Lines on Gate Oxide,” NIST / SPIE.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78440" y="1819656"/>
            <a:ext cx="96012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5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378440" y="1837943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B8EFF"/>
                </a:solidFill>
                <a:latin typeface="Aptos"/>
              </a:rPr>
              <a:t>SEM 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42316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FBEB4"/>
                </a:solidFill>
                <a:latin typeface="Aptos"/>
              </a:rPr>
              <a:t>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04872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2FA"/>
                </a:solidFill>
                <a:latin typeface="Aptos"/>
              </a:rPr>
              <a:t>ETH Zurich ScopeM, “SEM – Imaging with Secondary Electrons.”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378440" y="2414016"/>
            <a:ext cx="96012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78440" y="2432304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FBEB4"/>
                </a:solidFill>
                <a:latin typeface="Aptos"/>
              </a:rPr>
              <a:t>SEM edge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01752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3FBEB4"/>
                </a:solidFill>
                <a:latin typeface="Aptos"/>
              </a:rPr>
              <a:t>[4]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999232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2FA"/>
                </a:solidFill>
                <a:latin typeface="Aptos"/>
              </a:rPr>
              <a:t>Microelectronic Engineering (2019), “Deep learning denoising of SEM images towards noise-reduced LER measurements.”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78440" y="3008376"/>
            <a:ext cx="96012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5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78440" y="3026664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B8EFF"/>
                </a:solidFill>
                <a:latin typeface="Aptos"/>
              </a:rPr>
              <a:t>SEM noise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56616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3FBEB4"/>
                </a:solidFill>
                <a:latin typeface="Aptos"/>
              </a:rPr>
              <a:t>[</a:t>
            </a:r>
            <a:r>
              <a:rPr lang="en-IN" sz="1050" b="1" dirty="0">
                <a:solidFill>
                  <a:srgbClr val="3FBEB4"/>
                </a:solidFill>
                <a:latin typeface="Aptos"/>
              </a:rPr>
              <a:t>5</a:t>
            </a:r>
            <a:r>
              <a:rPr sz="1050" b="1" dirty="0">
                <a:solidFill>
                  <a:srgbClr val="3FBEB4"/>
                </a:solidFill>
                <a:latin typeface="Aptos"/>
              </a:rPr>
              <a:t>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547872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2FA"/>
                </a:solidFill>
                <a:latin typeface="Aptos"/>
              </a:rPr>
              <a:t>Szeliski, R., Computer Vision: Algorithms and Applications, Springer.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378440" y="3557016"/>
            <a:ext cx="96012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5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78440" y="3575303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B8EFF"/>
                </a:solidFill>
                <a:latin typeface="Aptos"/>
              </a:rPr>
              <a:t>CV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416052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3FBEB4"/>
                </a:solidFill>
                <a:latin typeface="Aptos"/>
              </a:rPr>
              <a:t>[</a:t>
            </a:r>
            <a:r>
              <a:rPr lang="en-IN" sz="1050" b="1" dirty="0">
                <a:solidFill>
                  <a:srgbClr val="3FBEB4"/>
                </a:solidFill>
                <a:latin typeface="Aptos"/>
              </a:rPr>
              <a:t>6</a:t>
            </a:r>
            <a:r>
              <a:rPr sz="1050" b="1" dirty="0">
                <a:solidFill>
                  <a:srgbClr val="3FBEB4"/>
                </a:solidFill>
                <a:latin typeface="Aptos"/>
              </a:rPr>
              <a:t>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142232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2FA"/>
                </a:solidFill>
                <a:latin typeface="Aptos"/>
              </a:rPr>
              <a:t>Lowe, D. G. (2004), “Distinctive Image Features from Scale-Invariant Keypoints,” IJCV.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78440" y="4151376"/>
            <a:ext cx="96012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3F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78440" y="4169664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3FBEB4"/>
                </a:solidFill>
                <a:latin typeface="Aptos"/>
              </a:rPr>
              <a:t>Scale/registration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75488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dirty="0">
                <a:solidFill>
                  <a:srgbClr val="3FBEB4"/>
                </a:solidFill>
                <a:latin typeface="Aptos"/>
              </a:rPr>
              <a:t>[</a:t>
            </a:r>
            <a:r>
              <a:rPr lang="en-IN" sz="1050" b="1" dirty="0">
                <a:solidFill>
                  <a:srgbClr val="3FBEB4"/>
                </a:solidFill>
                <a:latin typeface="Aptos"/>
              </a:rPr>
              <a:t>7</a:t>
            </a:r>
            <a:r>
              <a:rPr sz="1050" b="1" dirty="0">
                <a:solidFill>
                  <a:srgbClr val="3FBEB4"/>
                </a:solidFill>
                <a:latin typeface="Aptos"/>
              </a:rPr>
              <a:t>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4736592"/>
            <a:ext cx="9372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EBF2FA"/>
                </a:solidFill>
                <a:latin typeface="Aptos"/>
              </a:rPr>
              <a:t>Oxford Academic, “Spatial resolution in secondary-electron microscopy.”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78440" y="4745736"/>
            <a:ext cx="960120" cy="347472"/>
          </a:xfrm>
          <a:prstGeom prst="roundRect">
            <a:avLst/>
          </a:prstGeom>
          <a:solidFill>
            <a:srgbClr val="162A38"/>
          </a:solidFill>
          <a:ln>
            <a:solidFill>
              <a:srgbClr val="5B8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78440" y="4764024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5B8EFF"/>
                </a:solidFill>
                <a:latin typeface="Aptos"/>
              </a:rPr>
              <a:t>SEM imaging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</TotalTime>
  <Words>1486</Words>
  <Application>Microsoft Office PowerPoint</Application>
  <PresentationFormat>Widescreen</PresentationFormat>
  <Paragraphs>169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Drift-Sense — SEMICON India Hackathon 2026</dc:title>
  <dc:subject>Applied Materials: Navigation-Error Recovery for Wafer Inspection Tools</dc:subject>
  <dc:creator>[Team Name]</dc:creator>
  <cp:keywords>Drift-Sense, Applied Materials, wafer inspection, localization, FinFET, semiconductor</cp:keywords>
  <dc:description>generated using python-pptx</dc:description>
  <cp:lastModifiedBy>datta borey</cp:lastModifiedBy>
  <cp:revision>17</cp:revision>
  <dcterms:created xsi:type="dcterms:W3CDTF">2013-01-27T09:14:16Z</dcterms:created>
  <dcterms:modified xsi:type="dcterms:W3CDTF">2026-08-18T18:12:19Z</dcterms:modified>
  <cp:category/>
</cp:coreProperties>
</file>